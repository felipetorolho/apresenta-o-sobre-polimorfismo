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eague Spartan" charset="1" panose="00000800000000000000"/>
      <p:regular r:id="rId11"/>
    </p:embeddedFont>
    <p:embeddedFont>
      <p:font typeface="Sanchez" charset="1" panose="02000000000000000000"/>
      <p:regular r:id="rId12"/>
    </p:embeddedFont>
    <p:embeddedFont>
      <p:font typeface="Sanchez Italics" charset="1" panose="00000000000000000000"/>
      <p:regular r:id="rId13"/>
    </p:embeddedFont>
    <p:embeddedFont>
      <p:font typeface="Open Sans" charset="1" panose="020B0606030504020204"/>
      <p:regular r:id="rId14"/>
    </p:embeddedFont>
    <p:embeddedFont>
      <p:font typeface="Open Sans Italics" charset="1" panose="020B0606030504020204"/>
      <p:regular r:id="rId15"/>
    </p:embeddedFont>
    <p:embeddedFont>
      <p:font typeface="Open Sans Bold Italics" charset="1" panose="020B0806030504020204"/>
      <p:regular r:id="rId16"/>
    </p:embeddedFon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40" y="0"/>
            <a:ext cx="13161514" cy="11165351"/>
          </a:xfrm>
          <a:custGeom>
            <a:avLst/>
            <a:gdLst/>
            <a:ahLst/>
            <a:cxnLst/>
            <a:rect r="r" b="b" t="t" l="l"/>
            <a:pathLst>
              <a:path h="11165351" w="13161514">
                <a:moveTo>
                  <a:pt x="0" y="0"/>
                </a:moveTo>
                <a:lnTo>
                  <a:pt x="13161514" y="0"/>
                </a:lnTo>
                <a:lnTo>
                  <a:pt x="13161514" y="11165351"/>
                </a:lnTo>
                <a:lnTo>
                  <a:pt x="0" y="11165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5981700"/>
            <a:ext cx="8115300" cy="127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70"/>
              </a:lnSpc>
            </a:pPr>
            <a:r>
              <a:rPr lang="en-US" sz="9968" spc="-498">
                <a:solidFill>
                  <a:srgbClr val="015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Polimorfismo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05890" y="7231656"/>
            <a:ext cx="7457975" cy="10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88"/>
              </a:lnSpc>
            </a:pPr>
            <a:r>
              <a:rPr lang="en-US" sz="3375" spc="168">
                <a:solidFill>
                  <a:srgbClr val="3E7EA4"/>
                </a:solidFill>
                <a:latin typeface="Sanchez"/>
                <a:ea typeface="Sanchez"/>
                <a:cs typeface="Sanchez"/>
                <a:sym typeface="Sanchez"/>
              </a:rPr>
              <a:t> PILAR DA PROGRAMAÇÃO ORIENTADA A OBJETOS (POO)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78850" y="705779"/>
            <a:ext cx="7485015" cy="72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4"/>
              </a:lnSpc>
            </a:pPr>
            <a:r>
              <a:rPr lang="en-US" sz="2941" spc="-147">
                <a:solidFill>
                  <a:srgbClr val="015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Kauã Fidalgo, Julio Cesar, Felipe Torolho, Maria E. G. Vieira, Anne N.</a:t>
            </a:r>
          </a:p>
        </p:txBody>
      </p:sp>
      <p:sp>
        <p:nvSpPr>
          <p:cNvPr name="AutoShape 6" id="6"/>
          <p:cNvSpPr/>
          <p:nvPr/>
        </p:nvSpPr>
        <p:spPr>
          <a:xfrm>
            <a:off x="13212776" y="1703061"/>
            <a:ext cx="4046524" cy="0"/>
          </a:xfrm>
          <a:prstGeom prst="line">
            <a:avLst/>
          </a:prstGeom>
          <a:ln cap="flat" w="38100">
            <a:solidFill>
              <a:srgbClr val="015A8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5A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7816" y="4197683"/>
            <a:ext cx="6959455" cy="6649180"/>
          </a:xfrm>
          <a:custGeom>
            <a:avLst/>
            <a:gdLst/>
            <a:ahLst/>
            <a:cxnLst/>
            <a:rect r="r" b="b" t="t" l="l"/>
            <a:pathLst>
              <a:path h="6649180" w="6959455">
                <a:moveTo>
                  <a:pt x="0" y="0"/>
                </a:moveTo>
                <a:lnTo>
                  <a:pt x="6959456" y="0"/>
                </a:lnTo>
                <a:lnTo>
                  <a:pt x="6959456" y="6649180"/>
                </a:lnTo>
                <a:lnTo>
                  <a:pt x="0" y="6649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81912" y="5489062"/>
            <a:ext cx="2379349" cy="23793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9F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098325" y="668211"/>
            <a:ext cx="2379349" cy="237934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9F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61261" y="1991236"/>
            <a:ext cx="1020631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6000" spc="-300">
                <a:solidFill>
                  <a:srgbClr val="E7F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Conceito - </a:t>
            </a:r>
            <a:r>
              <a:rPr lang="en-US" sz="6000" spc="-300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Polimorfismo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0766" y="3770121"/>
            <a:ext cx="8238679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CC0DF"/>
                </a:solidFill>
                <a:latin typeface="Sanchez"/>
                <a:ea typeface="Sanchez"/>
                <a:cs typeface="Sanchez"/>
                <a:sym typeface="Sanchez"/>
              </a:rPr>
              <a:t>Polimorfismo </a:t>
            </a:r>
            <a:r>
              <a:rPr lang="en-US" sz="2900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significa “</a:t>
            </a:r>
            <a:r>
              <a:rPr lang="en-US" sz="2900">
                <a:solidFill>
                  <a:srgbClr val="019FEC"/>
                </a:solidFill>
                <a:latin typeface="Sanchez"/>
                <a:ea typeface="Sanchez"/>
                <a:cs typeface="Sanchez"/>
                <a:sym typeface="Sanchez"/>
              </a:rPr>
              <a:t>muitas formas</a:t>
            </a:r>
            <a:r>
              <a:rPr lang="en-US" sz="2900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”.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 É a capacidade de um mesmo método ter comportamentos diferentes dependendo do objeto que o executa.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👉 Em outras palavras:</a:t>
            </a:r>
          </a:p>
          <a:p>
            <a:pPr algn="l">
              <a:lnSpc>
                <a:spcPts val="4060"/>
              </a:lnSpc>
            </a:pPr>
            <a:r>
              <a:rPr lang="en-US" sz="2900" i="true" u="sng">
                <a:solidFill>
                  <a:srgbClr val="FFFFFF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“Um mesmo comando pode gerar ações diferentes.</a:t>
            </a:r>
            <a:r>
              <a:rPr lang="en-US" sz="2900" i="true">
                <a:solidFill>
                  <a:srgbClr val="FFFFFF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”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0099" y="7754429"/>
            <a:ext cx="1660145" cy="166014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5A8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</a:pPr>
              <a:r>
                <a:rPr lang="en-US" sz="60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0099" y="5513260"/>
            <a:ext cx="1660145" cy="16601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9F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40"/>
                </a:lnSpc>
              </a:pPr>
              <a:r>
                <a:rPr lang="en-US" sz="6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0099" y="3270362"/>
            <a:ext cx="1660145" cy="16601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5A8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</a:pPr>
              <a:r>
                <a:rPr lang="en-US" sz="60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0099" y="873975"/>
            <a:ext cx="1660145" cy="16601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9FE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</a:pPr>
              <a:r>
                <a:rPr lang="en-US" sz="60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-134978"/>
            <a:ext cx="8766284" cy="6810680"/>
            <a:chOff x="0" y="0"/>
            <a:chExt cx="2308816" cy="17937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8815" cy="1793759"/>
            </a:xfrm>
            <a:custGeom>
              <a:avLst/>
              <a:gdLst/>
              <a:ahLst/>
              <a:cxnLst/>
              <a:rect r="r" b="b" t="t" l="l"/>
              <a:pathLst>
                <a:path h="1793759" w="2308815">
                  <a:moveTo>
                    <a:pt x="0" y="0"/>
                  </a:moveTo>
                  <a:lnTo>
                    <a:pt x="2308815" y="0"/>
                  </a:lnTo>
                  <a:lnTo>
                    <a:pt x="2308815" y="1793759"/>
                  </a:lnTo>
                  <a:lnTo>
                    <a:pt x="0" y="1793759"/>
                  </a:lnTo>
                  <a:close/>
                </a:path>
              </a:pathLst>
            </a:custGeom>
            <a:solidFill>
              <a:srgbClr val="015A8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08816" cy="1831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6346814"/>
            <a:ext cx="8766284" cy="6885904"/>
            <a:chOff x="0" y="0"/>
            <a:chExt cx="2308816" cy="18135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8815" cy="1813571"/>
            </a:xfrm>
            <a:custGeom>
              <a:avLst/>
              <a:gdLst/>
              <a:ahLst/>
              <a:cxnLst/>
              <a:rect r="r" b="b" t="t" l="l"/>
              <a:pathLst>
                <a:path h="1813571" w="2308815">
                  <a:moveTo>
                    <a:pt x="0" y="0"/>
                  </a:moveTo>
                  <a:lnTo>
                    <a:pt x="2308815" y="0"/>
                  </a:lnTo>
                  <a:lnTo>
                    <a:pt x="2308815" y="1813571"/>
                  </a:lnTo>
                  <a:lnTo>
                    <a:pt x="0" y="1813571"/>
                  </a:lnTo>
                  <a:close/>
                </a:path>
              </a:pathLst>
            </a:custGeom>
            <a:solidFill>
              <a:srgbClr val="019FE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308816" cy="1851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12005" y="3679766"/>
            <a:ext cx="4495147" cy="6987276"/>
          </a:xfrm>
          <a:custGeom>
            <a:avLst/>
            <a:gdLst/>
            <a:ahLst/>
            <a:cxnLst/>
            <a:rect r="r" b="b" t="t" l="l"/>
            <a:pathLst>
              <a:path h="6987276" w="4495147">
                <a:moveTo>
                  <a:pt x="0" y="0"/>
                </a:moveTo>
                <a:lnTo>
                  <a:pt x="4495147" y="0"/>
                </a:lnTo>
                <a:lnTo>
                  <a:pt x="4495147" y="6987276"/>
                </a:lnTo>
                <a:lnTo>
                  <a:pt x="0" y="698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8138" y="1648383"/>
            <a:ext cx="7567755" cy="69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19"/>
              </a:lnSpc>
            </a:pPr>
            <a:r>
              <a:rPr lang="en-US" sz="5389" spc="-269">
                <a:solidFill>
                  <a:srgbClr val="E7F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Tipos de </a:t>
            </a:r>
            <a:r>
              <a:rPr lang="en-US" sz="5389" spc="-269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Polimorfismos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54681" y="3003786"/>
            <a:ext cx="5872293" cy="250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846" spc="-142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Um mesmo </a:t>
            </a:r>
            <a:r>
              <a:rPr lang="en-US" sz="2846" i="true" spc="-142">
                <a:solidFill>
                  <a:srgbClr val="0CC0DF"/>
                </a:solidFill>
                <a:latin typeface="Sanchez Italics"/>
                <a:ea typeface="Sanchez Italics"/>
                <a:cs typeface="Sanchez Italics"/>
                <a:sym typeface="Sanchez Italics"/>
              </a:rPr>
              <a:t>método </a:t>
            </a:r>
            <a:r>
              <a:rPr lang="en-US" sz="2846" spc="-142">
                <a:solidFill>
                  <a:srgbClr val="FFFFFF"/>
                </a:solidFill>
                <a:latin typeface="Sanchez"/>
                <a:ea typeface="Sanchez"/>
                <a:cs typeface="Sanchez"/>
                <a:sym typeface="Sanchez"/>
              </a:rPr>
              <a:t>pode ter comportamentos diferentes em classes diferentes.</a:t>
            </a:r>
          </a:p>
          <a:p>
            <a:pPr algn="l">
              <a:lnSpc>
                <a:spcPts val="3985"/>
              </a:lnSpc>
            </a:pPr>
          </a:p>
          <a:p>
            <a:pPr algn="l">
              <a:lnSpc>
                <a:spcPts val="398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586071" y="5494246"/>
            <a:ext cx="6970987" cy="21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417" spc="-120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Polimorfismo de </a:t>
            </a:r>
            <a:r>
              <a:rPr lang="en-US" sz="2417" spc="-120">
                <a:solidFill>
                  <a:srgbClr val="019FEC"/>
                </a:solidFill>
                <a:latin typeface="Sanchez"/>
                <a:ea typeface="Sanchez"/>
                <a:cs typeface="Sanchez"/>
                <a:sym typeface="Sanchez"/>
              </a:rPr>
              <a:t>Sobrescrita </a:t>
            </a:r>
            <a:r>
              <a:rPr lang="en-US" sz="2417" spc="-120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(</a:t>
            </a:r>
            <a:r>
              <a:rPr lang="en-US" sz="2417" spc="-120">
                <a:solidFill>
                  <a:srgbClr val="1800AD"/>
                </a:solidFill>
                <a:latin typeface="Sanchez"/>
                <a:ea typeface="Sanchez"/>
                <a:cs typeface="Sanchez"/>
                <a:sym typeface="Sanchez"/>
              </a:rPr>
              <a:t>Runtime</a:t>
            </a:r>
            <a:r>
              <a:rPr lang="en-US" sz="2417" spc="-120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)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7" spc="-120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➡️ Ocorre entre classes diferentes, quando uma classe filha sobrescreve um método da classe pai para mudar seu comportamento.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586071" y="3043856"/>
            <a:ext cx="6462862" cy="217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spc="-123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Polimorfismo de </a:t>
            </a:r>
            <a:r>
              <a:rPr lang="en-US" sz="2472" spc="-123">
                <a:solidFill>
                  <a:srgbClr val="019FEC"/>
                </a:solidFill>
                <a:latin typeface="Sanchez"/>
                <a:ea typeface="Sanchez"/>
                <a:cs typeface="Sanchez"/>
                <a:sym typeface="Sanchez"/>
              </a:rPr>
              <a:t>Sobrecarga </a:t>
            </a:r>
            <a:r>
              <a:rPr lang="en-US" sz="2472" spc="-123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(</a:t>
            </a:r>
            <a:r>
              <a:rPr lang="en-US" sz="2472" spc="-123">
                <a:solidFill>
                  <a:srgbClr val="1800AD"/>
                </a:solidFill>
                <a:latin typeface="Sanchez"/>
                <a:ea typeface="Sanchez"/>
                <a:cs typeface="Sanchez"/>
                <a:sym typeface="Sanchez"/>
              </a:rPr>
              <a:t>Compile-time</a:t>
            </a:r>
            <a:r>
              <a:rPr lang="en-US" sz="2472" spc="-123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)</a:t>
            </a:r>
          </a:p>
          <a:p>
            <a:pPr algn="l">
              <a:lnSpc>
                <a:spcPts val="3461"/>
              </a:lnSpc>
              <a:spcBef>
                <a:spcPct val="0"/>
              </a:spcBef>
            </a:pPr>
            <a:r>
              <a:rPr lang="en-US" sz="2472" spc="-123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➡️ Ocorre na mesma classe, quando temos métodos com o mesmo nome, mas parâmetros diferentes (quantidade ou tipo).</a:t>
            </a:r>
          </a:p>
          <a:p>
            <a:pPr algn="l">
              <a:lnSpc>
                <a:spcPts val="3461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429100" y="7890282"/>
            <a:ext cx="6776804" cy="13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  <a:spcBef>
                <a:spcPct val="0"/>
              </a:spcBef>
            </a:pPr>
            <a:r>
              <a:rPr lang="en-US" sz="2559" spc="-127">
                <a:solidFill>
                  <a:srgbClr val="0177DD"/>
                </a:solidFill>
                <a:latin typeface="Sanchez"/>
                <a:ea typeface="Sanchez"/>
                <a:cs typeface="Sanchez"/>
                <a:sym typeface="Sanchez"/>
              </a:rPr>
              <a:t>Herança</a:t>
            </a:r>
            <a:r>
              <a:rPr lang="en-US" sz="2559" spc="-127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: Polimorfismo usa herança para tratar objetos diferentes como iguais, executando métodos específicos de cada classe.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21985" y="816825"/>
            <a:ext cx="5637315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145">
                <a:solidFill>
                  <a:srgbClr val="0CC0DF"/>
                </a:solidFill>
                <a:latin typeface="Sanchez"/>
                <a:ea typeface="Sanchez"/>
                <a:cs typeface="Sanchez"/>
                <a:sym typeface="Sanchez"/>
              </a:rPr>
              <a:t>Polimorfismo </a:t>
            </a:r>
            <a:r>
              <a:rPr lang="en-US" sz="2900" spc="-145">
                <a:solidFill>
                  <a:srgbClr val="015A83"/>
                </a:solidFill>
                <a:latin typeface="Sanchez"/>
                <a:ea typeface="Sanchez"/>
                <a:cs typeface="Sanchez"/>
                <a:sym typeface="Sanchez"/>
              </a:rPr>
              <a:t>→ Permite que um mesmo método tenha comportamentos diferentes.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54681" y="5493375"/>
            <a:ext cx="5510518" cy="331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  <a:spcBef>
                <a:spcPct val="0"/>
              </a:spcBef>
            </a:pPr>
            <a:r>
              <a:rPr lang="en-US" sz="2714" i="true" spc="-135">
                <a:solidFill>
                  <a:srgbClr val="E7F6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Por </a:t>
            </a:r>
            <a:r>
              <a:rPr lang="en-US" sz="2714" i="true" spc="-135">
                <a:solidFill>
                  <a:srgbClr val="E7F6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exemplo</a:t>
            </a: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just">
              <a:lnSpc>
                <a:spcPts val="3799"/>
              </a:lnSpc>
              <a:spcBef>
                <a:spcPct val="0"/>
              </a:spcBef>
            </a:pPr>
          </a:p>
          <a:p>
            <a:pPr algn="just">
              <a:lnSpc>
                <a:spcPts val="3799"/>
              </a:lnSpc>
              <a:spcBef>
                <a:spcPct val="0"/>
              </a:spcBef>
            </a:pP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- O comando “</a:t>
            </a:r>
            <a:r>
              <a:rPr lang="en-US" sz="2714" spc="-135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Mover</a:t>
            </a:r>
            <a:r>
              <a:rPr lang="en-US" sz="2714" spc="-135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( )</a:t>
            </a: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” pode fazer:</a:t>
            </a:r>
          </a:p>
          <a:p>
            <a:pPr algn="just">
              <a:lnSpc>
                <a:spcPts val="3799"/>
              </a:lnSpc>
              <a:spcBef>
                <a:spcPct val="0"/>
              </a:spcBef>
            </a:pP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 - um </a:t>
            </a:r>
            <a:r>
              <a:rPr lang="en-US" sz="2714" spc="-135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carro </a:t>
            </a: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andar,</a:t>
            </a:r>
          </a:p>
          <a:p>
            <a:pPr algn="just">
              <a:lnSpc>
                <a:spcPts val="3799"/>
              </a:lnSpc>
              <a:spcBef>
                <a:spcPct val="0"/>
              </a:spcBef>
            </a:pP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 - um </a:t>
            </a:r>
            <a:r>
              <a:rPr lang="en-US" sz="2714" spc="-135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avião </a:t>
            </a: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voar,</a:t>
            </a:r>
          </a:p>
          <a:p>
            <a:pPr algn="just">
              <a:lnSpc>
                <a:spcPts val="3799"/>
              </a:lnSpc>
              <a:spcBef>
                <a:spcPct val="0"/>
              </a:spcBef>
            </a:pP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 - um </a:t>
            </a:r>
            <a:r>
              <a:rPr lang="en-US" sz="2714" spc="-135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barco </a:t>
            </a:r>
            <a:r>
              <a:rPr lang="en-US" sz="2714" spc="-135">
                <a:solidFill>
                  <a:srgbClr val="E7F6FF"/>
                </a:solidFill>
                <a:latin typeface="Open Sans"/>
                <a:ea typeface="Open Sans"/>
                <a:cs typeface="Open Sans"/>
                <a:sym typeface="Open Sans"/>
              </a:rPr>
              <a:t>navegar.</a:t>
            </a:r>
          </a:p>
          <a:p>
            <a:pPr algn="just">
              <a:lnSpc>
                <a:spcPts val="3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5A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256" y="-398987"/>
            <a:ext cx="7556162" cy="11745330"/>
          </a:xfrm>
          <a:custGeom>
            <a:avLst/>
            <a:gdLst/>
            <a:ahLst/>
            <a:cxnLst/>
            <a:rect r="r" b="b" t="t" l="l"/>
            <a:pathLst>
              <a:path h="11745330" w="7556162">
                <a:moveTo>
                  <a:pt x="0" y="0"/>
                </a:moveTo>
                <a:lnTo>
                  <a:pt x="7556163" y="0"/>
                </a:lnTo>
                <a:lnTo>
                  <a:pt x="7556163" y="11745331"/>
                </a:lnTo>
                <a:lnTo>
                  <a:pt x="0" y="11745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7224" y="1921751"/>
            <a:ext cx="11959436" cy="103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3"/>
              </a:lnSpc>
            </a:pPr>
            <a:r>
              <a:rPr lang="en-US" sz="7073" spc="-353">
                <a:solidFill>
                  <a:srgbClr val="E7F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por quê é </a:t>
            </a:r>
            <a:r>
              <a:rPr lang="en-US" sz="7073" spc="-353">
                <a:solidFill>
                  <a:srgbClr val="019FE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importante</a:t>
            </a:r>
            <a:r>
              <a:rPr lang="en-US" sz="7073" spc="-353">
                <a:solidFill>
                  <a:srgbClr val="E7F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86696" y="3240479"/>
            <a:ext cx="6091189" cy="53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778" indent="-336889" lvl="1">
              <a:lnSpc>
                <a:spcPts val="4369"/>
              </a:lnSpc>
              <a:spcBef>
                <a:spcPct val="0"/>
              </a:spcBef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Torna o código mais </a:t>
            </a:r>
            <a:r>
              <a:rPr lang="en-US" b="true" sz="3120" i="true">
                <a:solidFill>
                  <a:srgbClr val="0CC0D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flexível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86696" y="3856536"/>
            <a:ext cx="854100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ermite trabalhar com </a:t>
            </a:r>
            <a:r>
              <a:rPr lang="en-US" b="true" sz="312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classes genéricas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54113" y="5086350"/>
            <a:ext cx="8573588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elhora o </a:t>
            </a:r>
            <a:r>
              <a:rPr lang="en-US" b="true" sz="312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reaproveitamento 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 código.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6696" y="4472613"/>
            <a:ext cx="6850808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608" indent="-336804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Facili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 a </a:t>
            </a:r>
            <a:r>
              <a:rPr lang="en-US" sz="3120" i="true">
                <a:solidFill>
                  <a:srgbClr val="019FE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manutenção 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3120" i="true">
                <a:solidFill>
                  <a:srgbClr val="019FE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extensão</a:t>
            </a:r>
            <a:r>
              <a:rPr lang="en-US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150435" y="6434112"/>
            <a:ext cx="1575379" cy="15753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9FE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1726652" y="4542026"/>
            <a:ext cx="6959455" cy="6649180"/>
          </a:xfrm>
          <a:custGeom>
            <a:avLst/>
            <a:gdLst/>
            <a:ahLst/>
            <a:cxnLst/>
            <a:rect r="r" b="b" t="t" l="l"/>
            <a:pathLst>
              <a:path h="6649180" w="6959455">
                <a:moveTo>
                  <a:pt x="0" y="0"/>
                </a:moveTo>
                <a:lnTo>
                  <a:pt x="6959455" y="0"/>
                </a:lnTo>
                <a:lnTo>
                  <a:pt x="6959455" y="6649180"/>
                </a:lnTo>
                <a:lnTo>
                  <a:pt x="0" y="6649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20855" y="7229061"/>
            <a:ext cx="6536650" cy="7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  <a:spcBef>
                <a:spcPct val="0"/>
              </a:spcBef>
            </a:pPr>
            <a:r>
              <a:rPr lang="en-US" sz="4524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Vamos para o código!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5A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8365" y="3584504"/>
            <a:ext cx="20473874" cy="7848319"/>
          </a:xfrm>
          <a:custGeom>
            <a:avLst/>
            <a:gdLst/>
            <a:ahLst/>
            <a:cxnLst/>
            <a:rect r="r" b="b" t="t" l="l"/>
            <a:pathLst>
              <a:path h="7848319" w="20473874">
                <a:moveTo>
                  <a:pt x="0" y="0"/>
                </a:moveTo>
                <a:lnTo>
                  <a:pt x="20473874" y="0"/>
                </a:lnTo>
                <a:lnTo>
                  <a:pt x="20473874" y="7848318"/>
                </a:lnTo>
                <a:lnTo>
                  <a:pt x="0" y="784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66841" y="5754115"/>
            <a:ext cx="6192459" cy="50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3959" spc="-197">
                <a:solidFill>
                  <a:srgbClr val="E7F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Obrigado Pela Atenção!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4795" y="376180"/>
            <a:ext cx="8442594" cy="45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2"/>
              </a:lnSpc>
              <a:spcBef>
                <a:spcPct val="0"/>
              </a:spcBef>
            </a:pPr>
            <a:r>
              <a:rPr lang="en-US" sz="2694">
                <a:solidFill>
                  <a:srgbClr val="0CC0D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Slide feito por:</a:t>
            </a:r>
            <a:r>
              <a:rPr lang="en-US" sz="2694">
                <a:solidFill>
                  <a:srgbClr val="E7F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Kauã Fidalgo e Júlio Cesar.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DAG4Bl0shT8</dc:identifier>
  <dcterms:modified xsi:type="dcterms:W3CDTF">2011-08-01T06:04:30Z</dcterms:modified>
  <cp:revision>1</cp:revision>
  <dc:title>Poliformismo</dc:title>
</cp:coreProperties>
</file>